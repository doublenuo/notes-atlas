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2"/>
  </p:handoutMasterIdLst>
  <p:sldIdLst>
    <p:sldId id="257" r:id="rId3"/>
    <p:sldId id="272" r:id="rId4"/>
    <p:sldId id="271" r:id="rId6"/>
    <p:sldId id="259" r:id="rId7"/>
    <p:sldId id="260" r:id="rId8"/>
    <p:sldId id="270" r:id="rId9"/>
    <p:sldId id="268" r:id="rId10"/>
    <p:sldId id="269" r:id="rId1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r>
              <a:rPr lang="zh-CN" altLang="en-US"/>
              <a:t>物体级关键点用于表征物体上具有语义意义或高风险交互的局部位置，从</a:t>
            </a:r>
            <a:r>
              <a:rPr lang="en-US" altLang="zh-CN"/>
              <a:t> RGB </a:t>
            </a:r>
            <a:r>
              <a:rPr lang="zh-CN" altLang="en-US"/>
              <a:t>图像中提取</a:t>
            </a:r>
            <a:r>
              <a:rPr lang="en-US" altLang="zh-CN"/>
              <a:t> DINOv2</a:t>
            </a:r>
            <a:r>
              <a:rPr lang="zh-CN" altLang="en-US"/>
              <a:t>密集特征，使用</a:t>
            </a:r>
            <a:r>
              <a:rPr lang="en-US" altLang="zh-CN"/>
              <a:t>SAM2</a:t>
            </a:r>
            <a:r>
              <a:rPr lang="zh-CN" altLang="en-US"/>
              <a:t>获得物体的掩码区域，在掩码内对</a:t>
            </a:r>
            <a:r>
              <a:rPr lang="en-US" altLang="zh-CN"/>
              <a:t> DINOv2 </a:t>
            </a:r>
            <a:r>
              <a:rPr lang="zh-CN" altLang="en-US"/>
              <a:t>特征进行</a:t>
            </a:r>
            <a:r>
              <a:rPr lang="en-US" altLang="zh-CN"/>
              <a:t>PCA </a:t>
            </a:r>
            <a:r>
              <a:rPr lang="zh-CN" altLang="en-US"/>
              <a:t>降维，然后执行</a:t>
            </a:r>
            <a:r>
              <a:rPr lang="en-US" altLang="zh-CN"/>
              <a:t>k‑means </a:t>
            </a:r>
            <a:r>
              <a:rPr lang="zh-CN" altLang="en-US"/>
              <a:t>聚类得到</a:t>
            </a:r>
            <a:r>
              <a:rPr lang="en-US" altLang="zh-CN"/>
              <a:t> 5 </a:t>
            </a:r>
            <a:r>
              <a:rPr lang="zh-CN" altLang="en-US"/>
              <a:t>个局部关键点候选，利用深度图将</a:t>
            </a:r>
            <a:r>
              <a:rPr lang="en-US" altLang="zh-CN"/>
              <a:t> 2D </a:t>
            </a:r>
            <a:r>
              <a:rPr lang="zh-CN" altLang="en-US"/>
              <a:t>候选点反投影到世界坐标系的</a:t>
            </a:r>
            <a:r>
              <a:rPr lang="en-US" altLang="zh-CN"/>
              <a:t> 3D </a:t>
            </a:r>
            <a:r>
              <a:rPr lang="zh-CN" altLang="en-US"/>
              <a:t>点，剔除与已有关键点距离小于</a:t>
            </a:r>
            <a:r>
              <a:rPr lang="en-US" altLang="zh-CN"/>
              <a:t>4cm</a:t>
            </a:r>
            <a:r>
              <a:rPr lang="zh-CN" altLang="en-US"/>
              <a:t>的点，保证空间多样性；</a:t>
            </a:r>
            <a:endParaRPr lang="zh-CN" altLang="en-US"/>
          </a:p>
          <a:p>
            <a:r>
              <a:rPr lang="en-US" altLang="zh-CN"/>
              <a:t>- </a:t>
            </a:r>
            <a:r>
              <a:rPr lang="zh-CN" altLang="en-US"/>
              <a:t>夹爪级关键点用于表征机械臂末端执行器上的关键位置，主要是夹爪尖端，利用双臂的关节角度和可微运动学模型，结合末端执行器到夹爪尖端的固定偏移量，直接计算左右夹爪尖端的世界坐标。</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该模型的核心技术细节分为三个阶段</a:t>
            </a:r>
            <a:endParaRPr lang="en-US" altLang="zh-CN"/>
          </a:p>
          <a:p>
            <a:r>
              <a:rPr lang="en-US" altLang="zh-CN"/>
              <a:t>- </a:t>
            </a:r>
            <a:r>
              <a:rPr lang="zh-CN" altLang="en-US"/>
              <a:t>首先，通过对比学习将</a:t>
            </a:r>
            <a:r>
              <a:rPr lang="en-US" altLang="zh-CN"/>
              <a:t>IMU</a:t>
            </a:r>
            <a:r>
              <a:rPr lang="zh-CN" altLang="en-US"/>
              <a:t>惯性数据与同步视觉图像映射到统一特征空间，其中对</a:t>
            </a:r>
            <a:r>
              <a:rPr lang="en-US" altLang="zh-CN"/>
              <a:t>IMU</a:t>
            </a:r>
            <a:r>
              <a:rPr lang="zh-CN" altLang="en-US"/>
              <a:t>数据做随机增强并拉近同源样本距离、推远异源样本</a:t>
            </a:r>
            <a:r>
              <a:rPr lang="en-US" altLang="zh-CN"/>
              <a:t>,</a:t>
            </a:r>
            <a:r>
              <a:rPr lang="zh-CN" altLang="en-US"/>
              <a:t>同时引入视觉编码器作为固定锚点，训练得到一个能提取运动语义的</a:t>
            </a:r>
            <a:r>
              <a:rPr lang="en-US" altLang="zh-CN"/>
              <a:t>IMU</a:t>
            </a:r>
            <a:r>
              <a:rPr lang="zh-CN" altLang="en-US"/>
              <a:t>编码器</a:t>
            </a:r>
            <a:r>
              <a:rPr lang="en-US" altLang="zh-CN"/>
              <a:t>;</a:t>
            </a:r>
            <a:endParaRPr lang="en-US" altLang="zh-CN"/>
          </a:p>
          <a:p>
            <a:r>
              <a:rPr lang="en-US" altLang="zh-CN"/>
              <a:t>- </a:t>
            </a:r>
            <a:r>
              <a:rPr lang="zh-CN" altLang="en-US"/>
              <a:t>其次，将对齐后的</a:t>
            </a:r>
            <a:r>
              <a:rPr lang="en-US" altLang="zh-CN"/>
              <a:t>IMU</a:t>
            </a:r>
            <a:r>
              <a:rPr lang="zh-CN" altLang="en-US"/>
              <a:t>和视觉特征堆叠后送入多头自注意力层进行双向交互，并利用</a:t>
            </a:r>
            <a:r>
              <a:rPr lang="en-US" altLang="zh-CN"/>
              <a:t>Transformer-VAE</a:t>
            </a:r>
            <a:r>
              <a:rPr lang="zh-CN" altLang="en-US"/>
              <a:t>架构挖掘时序依赖与映射不确定性，其中</a:t>
            </a:r>
            <a:r>
              <a:rPr lang="en-US" altLang="zh-CN"/>
              <a:t>Transformer</a:t>
            </a:r>
            <a:r>
              <a:rPr lang="zh-CN" altLang="en-US"/>
              <a:t>捕捉长程关联，</a:t>
            </a:r>
            <a:r>
              <a:rPr lang="en-US" altLang="zh-CN"/>
              <a:t>VAE</a:t>
            </a:r>
            <a:r>
              <a:rPr lang="zh-CN" altLang="en-US"/>
              <a:t>通过重参数化采样生成潜在分布，再解码为关节增量并积分得到平滑的关节序列</a:t>
            </a:r>
            <a:r>
              <a:rPr lang="en-US" altLang="zh-CN"/>
              <a:t>;</a:t>
            </a:r>
            <a:endParaRPr lang="en-US" altLang="zh-CN"/>
          </a:p>
          <a:p>
            <a:r>
              <a:rPr lang="en-US" altLang="zh-CN"/>
              <a:t>- </a:t>
            </a:r>
            <a:r>
              <a:rPr lang="zh-CN" altLang="en-US"/>
              <a:t>最后，以该关节序列为条件，结合扩散模型的多步迭代去噪过程生成最终动作，并在训练中引入基于时序自相关性的对比损失，强制模型学习</a:t>
            </a:r>
            <a:r>
              <a:rPr lang="en-US" altLang="zh-CN"/>
              <a:t>IMU</a:t>
            </a:r>
            <a:r>
              <a:rPr lang="zh-CN" altLang="en-US"/>
              <a:t>信号的长期依赖关系，从而显著提升生成动作的流畅性与拟人化水平</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该预训练模型包含两个核心模态专属编码器模块，即</a:t>
            </a:r>
            <a:r>
              <a:rPr lang="en-US" altLang="zh-CN"/>
              <a:t> IMU </a:t>
            </a:r>
            <a:r>
              <a:rPr lang="zh-CN" altLang="en-US"/>
              <a:t>时序编码器与视觉图像编码器，</a:t>
            </a:r>
            <a:endParaRPr lang="en-US" altLang="zh-CN"/>
          </a:p>
          <a:p>
            <a:r>
              <a:rPr lang="en-US" altLang="zh-CN"/>
              <a:t>- IMU</a:t>
            </a:r>
            <a:r>
              <a:rPr lang="zh-CN" altLang="en-US"/>
              <a:t>时序编码器采用堆叠卷积层与循环神经网络，主要用于提取</a:t>
            </a:r>
            <a:r>
              <a:rPr lang="en-US" altLang="zh-CN"/>
              <a:t> IMU</a:t>
            </a:r>
            <a:r>
              <a:rPr lang="zh-CN" altLang="en-US"/>
              <a:t>数据中蕴含的加速度、角速度等动态运动特征；该编码器基于基于</a:t>
            </a:r>
            <a:r>
              <a:rPr lang="en-US" altLang="zh-CN"/>
              <a:t>IMU2CLIP</a:t>
            </a:r>
            <a:r>
              <a:rPr lang="zh-CN" altLang="en-US"/>
              <a:t>模型改进而来</a:t>
            </a:r>
            <a:endParaRPr lang="zh-CN" altLang="en-US"/>
          </a:p>
          <a:p>
            <a:r>
              <a:rPr lang="en-US" altLang="zh-CN"/>
              <a:t>- </a:t>
            </a:r>
            <a:r>
              <a:rPr lang="zh-CN" altLang="en-US"/>
              <a:t>视觉图像编码器能够输出具备强语义表达能力的视频潜在表征，该编码器基于</a:t>
            </a:r>
            <a:r>
              <a:rPr lang="en-US" altLang="zh-CN"/>
              <a:t>CLIP4Clip</a:t>
            </a:r>
            <a:r>
              <a:rPr lang="zh-CN" altLang="en-US"/>
              <a:t>开源模型构建</a:t>
            </a:r>
            <a:endParaRPr lang="zh-CN" altLang="en-US"/>
          </a:p>
          <a:p>
            <a:endParaRPr lang="en-US" altLang="zh-CN"/>
          </a:p>
          <a:p>
            <a:r>
              <a:rPr lang="zh-CN" altLang="en-US"/>
              <a:t>核心对齐机制通过</a:t>
            </a:r>
            <a:r>
              <a:rPr lang="zh-CN" altLang="en-US" b="1"/>
              <a:t>跨模态对比损失</a:t>
            </a:r>
            <a:r>
              <a:rPr lang="zh-CN" altLang="en-US"/>
              <a:t>和</a:t>
            </a:r>
            <a:r>
              <a:rPr lang="zh-CN" altLang="en-US" b="1"/>
              <a:t>自监督损失</a:t>
            </a:r>
            <a:r>
              <a:rPr lang="zh-CN" altLang="en-US"/>
              <a:t>组成：</a:t>
            </a:r>
            <a:endParaRPr lang="en-US" altLang="zh-CN"/>
          </a:p>
          <a:p>
            <a:r>
              <a:rPr lang="en-US" altLang="zh-CN"/>
              <a:t>- </a:t>
            </a:r>
            <a:r>
              <a:rPr lang="zh-CN" altLang="en-US"/>
              <a:t>跨模态对比损失：它的目标是让配对好的</a:t>
            </a:r>
            <a:r>
              <a:rPr lang="en-US" altLang="zh-CN"/>
              <a:t>IMU</a:t>
            </a:r>
            <a:r>
              <a:rPr lang="zh-CN" altLang="en-US"/>
              <a:t>数据与视频图像在特征空间中拉近，同时让不配对的数据推远。具体做法是，对于一批数据中的</a:t>
            </a:r>
            <a:r>
              <a:rPr lang="en-US" altLang="zh-CN"/>
              <a:t>N</a:t>
            </a:r>
            <a:r>
              <a:rPr lang="zh-CN" altLang="en-US"/>
              <a:t>个样本，将每一对同步的</a:t>
            </a:r>
            <a:r>
              <a:rPr lang="en-US" altLang="zh-CN"/>
              <a:t>`(IMU, </a:t>
            </a:r>
            <a:r>
              <a:rPr lang="zh-CN" altLang="en-US"/>
              <a:t>图像</a:t>
            </a:r>
            <a:r>
              <a:rPr lang="en-US" altLang="zh-CN"/>
              <a:t>)`</a:t>
            </a:r>
            <a:r>
              <a:rPr lang="zh-CN" altLang="en-US"/>
              <a:t>视为正样本，将其他</a:t>
            </a:r>
            <a:r>
              <a:rPr lang="en-US" altLang="zh-CN"/>
              <a:t>N-1</a:t>
            </a:r>
            <a:r>
              <a:rPr lang="zh-CN" altLang="en-US"/>
              <a:t>个非配对的</a:t>
            </a:r>
            <a:r>
              <a:rPr lang="en-US" altLang="zh-CN"/>
              <a:t>`(IMU, </a:t>
            </a:r>
            <a:r>
              <a:rPr lang="zh-CN" altLang="en-US"/>
              <a:t>图像</a:t>
            </a:r>
            <a:r>
              <a:rPr lang="en-US" altLang="zh-CN"/>
              <a:t>)`</a:t>
            </a:r>
            <a:r>
              <a:rPr lang="zh-CN" altLang="en-US"/>
              <a:t>组合视为负样本。模型通过最小化对比损失，迫使</a:t>
            </a:r>
            <a:r>
              <a:rPr lang="en-US" altLang="zh-CN"/>
              <a:t>IMU</a:t>
            </a:r>
            <a:r>
              <a:rPr lang="zh-CN" altLang="en-US"/>
              <a:t>编码器学习提取与视觉内容高度相关的运动特征。</a:t>
            </a:r>
            <a:endParaRPr lang="zh-CN" altLang="en-US"/>
          </a:p>
          <a:p>
            <a:r>
              <a:rPr lang="en-US" altLang="zh-CN"/>
              <a:t>- </a:t>
            </a:r>
            <a:r>
              <a:rPr lang="zh-CN" altLang="en-US"/>
              <a:t>自监督损失：为了提升</a:t>
            </a:r>
            <a:r>
              <a:rPr lang="en-US" altLang="zh-CN"/>
              <a:t>IMU</a:t>
            </a:r>
            <a:r>
              <a:rPr lang="zh-CN" altLang="en-US"/>
              <a:t>编码器对噪声（如传感器轻微移位）的鲁棒性，借鉴了</a:t>
            </a:r>
            <a:r>
              <a:rPr lang="en-US" altLang="zh-CN"/>
              <a:t>SimCLR</a:t>
            </a:r>
            <a:r>
              <a:rPr lang="zh-CN" altLang="en-US"/>
              <a:t>的思想。对同一个</a:t>
            </a:r>
            <a:r>
              <a:rPr lang="en-US" altLang="zh-CN"/>
              <a:t>IMU</a:t>
            </a:r>
            <a:r>
              <a:rPr lang="zh-CN" altLang="en-US"/>
              <a:t>原始数据进行两种不同的数据增强（如添加噪声、时间扭曲），并让编码器对这两个增强版本的输出特征尽可能相似。这能帮助编码器抓住</a:t>
            </a:r>
            <a:r>
              <a:rPr lang="en-US" altLang="zh-CN"/>
              <a:t>IMU</a:t>
            </a:r>
            <a:r>
              <a:rPr lang="zh-CN" altLang="en-US"/>
              <a:t>信号的本质运动模式，而非表层噪声。</a:t>
            </a:r>
            <a:endParaRPr lang="zh-CN" altLang="en-US"/>
          </a:p>
          <a:p>
            <a:endParaRPr lang="en-US" altLang="zh-CN"/>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将对齐后的</a:t>
            </a:r>
            <a:r>
              <a:rPr lang="en-US" altLang="zh-CN"/>
              <a:t>IMU</a:t>
            </a:r>
            <a:r>
              <a:rPr lang="zh-CN" altLang="en-US"/>
              <a:t>特征（</a:t>
            </a:r>
            <a:r>
              <a:rPr lang="en-US" altLang="zh-CN"/>
              <a:t>768</a:t>
            </a:r>
            <a:r>
              <a:rPr lang="zh-CN" altLang="en-US"/>
              <a:t>维）与视觉特征（</a:t>
            </a:r>
            <a:r>
              <a:rPr lang="en-US" altLang="zh-CN"/>
              <a:t>768</a:t>
            </a:r>
            <a:r>
              <a:rPr lang="zh-CN" altLang="en-US"/>
              <a:t>维）在序列维度上堆叠成两个</a:t>
            </a:r>
            <a:r>
              <a:rPr lang="en-US" altLang="zh-CN"/>
              <a:t>token</a:t>
            </a:r>
            <a:r>
              <a:rPr lang="zh-CN" altLang="en-US"/>
              <a:t>，送入</a:t>
            </a:r>
            <a:r>
              <a:rPr lang="en-US" altLang="zh-CN"/>
              <a:t>8</a:t>
            </a:r>
            <a:r>
              <a:rPr lang="zh-CN" altLang="en-US"/>
              <a:t>头多头自注意力层进行双向交互</a:t>
            </a:r>
            <a:r>
              <a:rPr lang="en-US" altLang="zh-CN"/>
              <a:t>,IMU</a:t>
            </a:r>
            <a:r>
              <a:rPr lang="zh-CN" altLang="en-US"/>
              <a:t>特征可以关注视觉场景中的姿态上下文，视觉特征也可以关注</a:t>
            </a:r>
            <a:r>
              <a:rPr lang="en-US" altLang="zh-CN"/>
              <a:t>IMU</a:t>
            </a:r>
            <a:r>
              <a:rPr lang="zh-CN" altLang="en-US"/>
              <a:t>中的动态细节，之后经过残差连接、层归一化和两层</a:t>
            </a:r>
            <a:r>
              <a:rPr lang="en-US" altLang="zh-CN"/>
              <a:t>MLP,</a:t>
            </a:r>
            <a:r>
              <a:rPr lang="zh-CN" altLang="en-US"/>
              <a:t>并采用非对称输出策略只取第一个</a:t>
            </a:r>
            <a:r>
              <a:rPr lang="en-US" altLang="zh-CN"/>
              <a:t>token</a:t>
            </a:r>
            <a:r>
              <a:rPr lang="zh-CN" altLang="en-US"/>
              <a:t>，从而强化</a:t>
            </a:r>
            <a:r>
              <a:rPr lang="en-US" altLang="zh-CN"/>
              <a:t>IMU</a:t>
            </a:r>
            <a:r>
              <a:rPr lang="zh-CN" altLang="en-US"/>
              <a:t>在控制中的主体地位。</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en-US" altLang="zh-CN" sz="3600">
                <a:effectLst/>
                <a:latin typeface="Times New Roman" panose="02020603050405020304" charset="0"/>
                <a:cs typeface="Times New Roman" panose="02020603050405020304" charset="0"/>
              </a:rPr>
              <a:t>SafeBimanual: Diffusion-based Trajectory Optimization for Safe Bimanual Manipulation</a:t>
            </a:r>
            <a:endParaRPr lang="en-US" altLang="zh-CN" sz="3600">
              <a:effectLst/>
              <a:latin typeface="Times New Roman" panose="02020603050405020304" charset="0"/>
              <a:cs typeface="Times New Roman" panose="02020603050405020304" charset="0"/>
            </a:endParaRPr>
          </a:p>
        </p:txBody>
      </p:sp>
      <p:pic>
        <p:nvPicPr>
          <p:cNvPr id="6" name="内容占位符 3"/>
          <p:cNvPicPr>
            <a:picLocks noChangeAspect="1"/>
          </p:cNvPicPr>
          <p:nvPr>
            <p:ph idx="1"/>
          </p:nvPr>
        </p:nvPicPr>
        <p:blipFill>
          <a:blip r:embed="rId1"/>
          <a:stretch>
            <a:fillRect/>
          </a:stretch>
        </p:blipFill>
        <p:spPr>
          <a:xfrm>
            <a:off x="1594485" y="1825625"/>
            <a:ext cx="8621395" cy="43516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内容占位符 6"/>
          <p:cNvPicPr>
            <a:picLocks noChangeAspect="1"/>
          </p:cNvPicPr>
          <p:nvPr>
            <p:ph idx="1"/>
          </p:nvPr>
        </p:nvPicPr>
        <p:blipFill>
          <a:blip r:embed="rId1"/>
          <a:stretch>
            <a:fillRect/>
          </a:stretch>
        </p:blipFill>
        <p:spPr>
          <a:xfrm>
            <a:off x="1504950" y="1112520"/>
            <a:ext cx="9522692" cy="432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内容占位符 7"/>
          <p:cNvPicPr>
            <a:picLocks noChangeAspect="1"/>
          </p:cNvPicPr>
          <p:nvPr>
            <p:ph idx="1"/>
          </p:nvPr>
        </p:nvPicPr>
        <p:blipFill>
          <a:blip r:embed="rId1"/>
          <a:stretch>
            <a:fillRect/>
          </a:stretch>
        </p:blipFill>
        <p:spPr>
          <a:xfrm>
            <a:off x="934720" y="375285"/>
            <a:ext cx="10323195" cy="4351655"/>
          </a:xfrm>
          <a:prstGeom prst="rect">
            <a:avLst/>
          </a:prstGeom>
        </p:spPr>
      </p:pic>
      <p:pic>
        <p:nvPicPr>
          <p:cNvPr id="2" name="图片 1"/>
          <p:cNvPicPr>
            <a:picLocks noChangeAspect="1"/>
          </p:cNvPicPr>
          <p:nvPr/>
        </p:nvPicPr>
        <p:blipFill>
          <a:blip r:embed="rId2"/>
          <a:stretch>
            <a:fillRect/>
          </a:stretch>
        </p:blipFill>
        <p:spPr>
          <a:xfrm>
            <a:off x="3737610" y="4788535"/>
            <a:ext cx="4716780" cy="1920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effectLst/>
                <a:latin typeface="+mj-ea"/>
                <a:cs typeface="+mj-ea"/>
              </a:rPr>
              <a:t>基于</a:t>
            </a:r>
            <a:r>
              <a:rPr lang="en-US" altLang="zh-CN" sz="3200">
                <a:effectLst/>
                <a:latin typeface="+mj-ea"/>
                <a:cs typeface="+mj-ea"/>
              </a:rPr>
              <a:t>IMU</a:t>
            </a:r>
            <a:r>
              <a:rPr lang="zh-CN" altLang="en-US" sz="3200">
                <a:effectLst/>
                <a:latin typeface="+mj-ea"/>
                <a:cs typeface="+mj-ea"/>
              </a:rPr>
              <a:t>与视觉融合精细化机器人生成动作</a:t>
            </a:r>
            <a:endParaRPr lang="zh-CN" altLang="en-US" sz="3200">
              <a:effectLst/>
              <a:latin typeface="+mj-ea"/>
              <a:cs typeface="+mj-ea"/>
            </a:endParaRPr>
          </a:p>
        </p:txBody>
      </p:sp>
      <p:pic>
        <p:nvPicPr>
          <p:cNvPr id="4" name="内容占位符 3"/>
          <p:cNvPicPr>
            <a:picLocks noChangeAspect="1"/>
          </p:cNvPicPr>
          <p:nvPr>
            <p:ph idx="1"/>
          </p:nvPr>
        </p:nvPicPr>
        <p:blipFill>
          <a:blip r:embed="rId1"/>
          <a:stretch>
            <a:fillRect/>
          </a:stretch>
        </p:blipFill>
        <p:spPr>
          <a:xfrm>
            <a:off x="647700" y="2106295"/>
            <a:ext cx="10515600" cy="3789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effectLst/>
                <a:latin typeface="+mj-ea"/>
                <a:cs typeface="+mj-ea"/>
              </a:rPr>
              <a:t>预训练</a:t>
            </a:r>
            <a:r>
              <a:rPr lang="en-US" altLang="zh-CN" sz="3200">
                <a:effectLst/>
                <a:latin typeface="+mj-ea"/>
                <a:cs typeface="+mj-ea"/>
              </a:rPr>
              <a:t>IMU</a:t>
            </a:r>
            <a:r>
              <a:rPr lang="zh-CN" altLang="en-US" sz="3200">
                <a:effectLst/>
                <a:latin typeface="+mj-ea"/>
                <a:cs typeface="+mj-ea"/>
              </a:rPr>
              <a:t>编码器</a:t>
            </a:r>
            <a:endParaRPr lang="zh-CN" altLang="en-US" sz="3200">
              <a:effectLst/>
              <a:latin typeface="+mj-ea"/>
              <a:cs typeface="+mj-ea"/>
            </a:endParaRPr>
          </a:p>
        </p:txBody>
      </p:sp>
      <p:pic>
        <p:nvPicPr>
          <p:cNvPr id="4" name="内容占位符 3"/>
          <p:cNvPicPr>
            <a:picLocks noChangeAspect="1"/>
          </p:cNvPicPr>
          <p:nvPr>
            <p:ph idx="1"/>
          </p:nvPr>
        </p:nvPicPr>
        <p:blipFill>
          <a:blip r:embed="rId1"/>
          <a:stretch>
            <a:fillRect/>
          </a:stretch>
        </p:blipFill>
        <p:spPr>
          <a:xfrm>
            <a:off x="1580515" y="2069465"/>
            <a:ext cx="8648700" cy="38633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200">
                <a:effectLst/>
                <a:latin typeface="+mj-ea"/>
                <a:cs typeface="+mj-ea"/>
              </a:rPr>
              <a:t> IMU</a:t>
            </a:r>
            <a:r>
              <a:rPr lang="zh-CN" altLang="en-US" sz="3200">
                <a:effectLst/>
                <a:latin typeface="+mj-ea"/>
                <a:cs typeface="+mj-ea"/>
              </a:rPr>
              <a:t>与视觉信息融合</a:t>
            </a:r>
            <a:endParaRPr lang="zh-CN" altLang="en-US" sz="3200">
              <a:effectLst/>
              <a:latin typeface="+mj-ea"/>
              <a:cs typeface="+mj-ea"/>
            </a:endParaRPr>
          </a:p>
        </p:txBody>
      </p:sp>
      <p:pic>
        <p:nvPicPr>
          <p:cNvPr id="4" name="内容占位符 3"/>
          <p:cNvPicPr>
            <a:picLocks noChangeAspect="1"/>
          </p:cNvPicPr>
          <p:nvPr>
            <p:ph idx="1"/>
          </p:nvPr>
        </p:nvPicPr>
        <p:blipFill>
          <a:blip r:embed="rId1"/>
          <a:stretch>
            <a:fillRect/>
          </a:stretch>
        </p:blipFill>
        <p:spPr>
          <a:xfrm>
            <a:off x="1576705" y="2115185"/>
            <a:ext cx="8656320" cy="3771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zh-CN" altLang="en-US" sz="3200">
                <a:effectLst/>
                <a:latin typeface="+mj-ea"/>
                <a:cs typeface="+mj-ea"/>
              </a:rPr>
              <a:t>基于</a:t>
            </a:r>
            <a:r>
              <a:rPr lang="en-US" altLang="zh-CN" sz="3200">
                <a:effectLst/>
                <a:latin typeface="+mj-ea"/>
                <a:cs typeface="+mj-ea"/>
              </a:rPr>
              <a:t>IMU</a:t>
            </a:r>
            <a:r>
              <a:rPr lang="zh-CN" altLang="en-US" sz="3200">
                <a:effectLst/>
                <a:latin typeface="+mj-ea"/>
                <a:cs typeface="+mj-ea"/>
              </a:rPr>
              <a:t>的机器人关节映射</a:t>
            </a:r>
            <a:endParaRPr lang="en-US" altLang="zh-CN" sz="3200">
              <a:effectLst/>
              <a:latin typeface="+mj-ea"/>
              <a:cs typeface="+mj-ea"/>
            </a:endParaRPr>
          </a:p>
        </p:txBody>
      </p:sp>
      <p:pic>
        <p:nvPicPr>
          <p:cNvPr id="4" name="内容占位符 3"/>
          <p:cNvPicPr>
            <a:picLocks noChangeAspect="1"/>
          </p:cNvPicPr>
          <p:nvPr>
            <p:ph idx="1"/>
          </p:nvPr>
        </p:nvPicPr>
        <p:blipFill>
          <a:blip r:embed="rId1"/>
          <a:stretch>
            <a:fillRect/>
          </a:stretch>
        </p:blipFill>
        <p:spPr>
          <a:xfrm>
            <a:off x="1697990" y="1825625"/>
            <a:ext cx="8414385" cy="4351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effectLst/>
              </a:rPr>
              <a:t>扩散生成模型与对比学习协同模块</a:t>
            </a:r>
            <a:endParaRPr lang="en-US" altLang="zh-CN" sz="3200">
              <a:effectLst/>
            </a:endParaRPr>
          </a:p>
        </p:txBody>
      </p:sp>
      <p:pic>
        <p:nvPicPr>
          <p:cNvPr id="8" name="内容占位符 7"/>
          <p:cNvPicPr>
            <a:picLocks noChangeAspect="1"/>
          </p:cNvPicPr>
          <p:nvPr>
            <p:ph idx="1"/>
          </p:nvPr>
        </p:nvPicPr>
        <p:blipFill>
          <a:blip r:embed="rId1"/>
          <a:stretch>
            <a:fillRect/>
          </a:stretch>
        </p:blipFill>
        <p:spPr>
          <a:xfrm>
            <a:off x="3069590" y="1825625"/>
            <a:ext cx="5670550" cy="435165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Words>
  <Application>WPS 演示</Application>
  <PresentationFormat>宽屏</PresentationFormat>
  <Paragraphs>12</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宋体</vt:lpstr>
      <vt:lpstr>Wingdings</vt:lpstr>
      <vt:lpstr>Times New Roman</vt:lpstr>
      <vt:lpstr>微软雅黑</vt:lpstr>
      <vt:lpstr>Arial Unicode MS</vt:lpstr>
      <vt:lpstr>Calibri Light</vt:lpstr>
      <vt:lpstr>Calibri</vt:lpstr>
      <vt:lpstr>WPS</vt:lpstr>
      <vt:lpstr>SafeBimanual: Diffusion-based Trajectory Optimization for Safe Bimanual Manipulation</vt:lpstr>
      <vt:lpstr>PowerPoint 演示文稿</vt:lpstr>
      <vt:lpstr>PowerPoint 演示文稿</vt:lpstr>
      <vt:lpstr>基于IMU与视觉融合精细化机器人生成动作</vt:lpstr>
      <vt:lpstr>预训练IMU编码器</vt:lpstr>
      <vt:lpstr> IMU与视觉信息融合</vt:lpstr>
      <vt:lpstr>基于IMU的机器人关节映射</vt:lpstr>
      <vt:lpstr>扩散生成模型与对比学习协同模块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weno</cp:lastModifiedBy>
  <cp:revision>22</cp:revision>
  <dcterms:created xsi:type="dcterms:W3CDTF">2026-04-08T05:07:53Z</dcterms:created>
  <dcterms:modified xsi:type="dcterms:W3CDTF">2026-04-08T05:07:53Z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2052-12.1.2.24730</vt:lpwstr>
  </property>
  <property fmtid="{D5CDD505-2E9C-101B-9397-08002B2CF9AE}" pid="3" name="ICV">
    <vt:lpwstr>368B2C199CADA3957632CE69CF45FFA3_41</vt:lpwstr>
  </property>
</Properties>
</file>