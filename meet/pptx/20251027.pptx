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4A5E"/>
    <a:srgbClr val="8B4B61"/>
    <a:srgbClr val="844057"/>
    <a:srgbClr val="98204A"/>
    <a:srgbClr val="FBF3F0"/>
    <a:srgbClr val="CF3379"/>
    <a:srgbClr val="EA5585"/>
    <a:srgbClr val="E4398A"/>
    <a:srgbClr val="FF409A"/>
    <a:srgbClr val="EC2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56"/>
    <p:restoredTop sz="95755"/>
  </p:normalViewPr>
  <p:slideViewPr>
    <p:cSldViewPr snapToGrid="0" snapToObjects="1">
      <p:cViewPr varScale="1">
        <p:scale>
          <a:sx n="82" d="100"/>
          <a:sy n="82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A7D56-F0E4-2348-93F3-1EBE1887D555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35B35-BC35-404E-8DC0-AC921CA677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266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98AB5-B743-F645-B831-DC532BBDF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BC5588-A7DA-2C4B-A33E-1A9CE1FB9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6D6248-89CB-5B45-A662-977B4E88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BD142-2C5A-944B-87FD-98FF5995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F8AE5-B72A-0F4A-BD7B-F9C1CBF1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52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2833E-2C27-4343-AB24-AE5128CB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60D77-285A-7344-9CA7-261EF7F1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F03E8-B984-0C44-9A23-2F1184ED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E656E1-F0EF-F249-9D0F-549430C3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B875CB-B227-9A45-8FA1-F22458D5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922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9EE2A-F7DF-014D-A4A5-06AF80F0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046152-B461-384E-80B3-E3C8530D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282245-DDE1-FD4C-B23B-7D5A5799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D32D63-9531-C54B-AF18-B10A3A1C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6FE0A-93B0-A34B-BD49-69BB6E26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721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ADCC8-D75D-F74B-8C66-31384492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29F007-ADD0-6243-9B77-D3EC18EB8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9847C6-C80D-DD44-BBF9-B4976FDB2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8F9ADE-78F2-7F49-92EB-CDFAA1713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1A24B6-1623-7144-A1CC-7E42639E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8695B1-33B9-614F-B1CF-9CD94630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99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13A12-DD00-F04F-A3D4-FC76078A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D6C19F-4488-4549-9611-1245CA0C8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C8C50A-19E3-244D-9C53-A57DE5EB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594CFB-ED73-C342-9CFD-68BE254C9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A68609-83EE-EB47-8624-DBA7C63E3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797BFD-53BF-D341-8EC8-C0C4664D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A6E77F-AE25-4641-AD17-99D0C46C6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BD0E88-5B2C-6D45-8C39-EE4CE0CC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04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67058-6FEE-8841-A8E9-AE56E04B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7384C3-FD37-D746-A8A5-E7FDD00A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DE349A-640D-8E4F-AAEA-2159A162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C11FA3-E618-6145-8DF5-5827A73C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441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BFA6F5-02B9-CB46-BCC6-481ACE39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A29044-69C5-3B4F-B986-121A9514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58C9D-1413-6C47-9A6A-D8D917B1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971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BC846-AFA1-2646-9124-EFF14B4F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DFD78-48F3-B944-9BFD-65417DF7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45AA23-A15E-5841-AF62-0D093F4FE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70D964-3E39-4346-B926-51F6BFB6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553F40-E914-6D47-AFB6-BA0E03DD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8ED2B4-3EA9-FD4A-AEC7-C093A950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840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0C855-8B2C-2E49-878B-220D9A336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62A61E-7180-084D-8AFC-B46D5D45A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B38455-2C0A-F447-A23E-18B944B0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D4D2E3-C01D-DD49-89A5-06E8D8D4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427027-06E7-B14E-847F-1E39709D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0E906F-E7B2-7144-8985-DCA967C6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20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73D05B-4148-3E47-94B1-87C466FB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6EA71F-71FE-5D40-9155-E17ED8E05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B3EFFC-8E3B-BE48-AFDB-9CD2BC2B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CC86B8-B8DA-4641-87C6-FE4C9E25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C76BB-C7C2-0B40-813B-B330F4BA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973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08F657-B8ED-9441-AB7D-1609A83D2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64B710-F4B8-414C-9CE0-8259E6E5E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E6C1B3-975E-434F-88E4-9E30D88D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C670A8-5878-D142-BA8E-A23AA180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A384F-B528-7C41-9E1F-D48CB22F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19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F08572-D95C-1B40-B4F4-E8B0A5B3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918BB-AFF9-0943-99D8-EDAD8B07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302D0-68F7-804E-BA6E-A698C5D82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8F06D-3E5C-DD4B-AB91-C2A4BCBECEBF}" type="datetimeFigureOut">
              <a:rPr kumimoji="1" lang="zh-CN" altLang="en-US" smtClean="0"/>
              <a:t>2025/11/18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A18D1-CA0E-744C-B5F2-E620EDB88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7518C-2BD3-9140-9D21-64C66943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8CB3D-9BB6-8D4A-9F4C-75D0D986762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466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1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4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形状 13">
            <a:extLst>
              <a:ext uri="{FF2B5EF4-FFF2-40B4-BE49-F238E27FC236}">
                <a16:creationId xmlns:a16="http://schemas.microsoft.com/office/drawing/2014/main" id="{063EBF9F-0099-B544-B0AA-FD6A410F887F}"/>
              </a:ext>
            </a:extLst>
          </p:cNvPr>
          <p:cNvSpPr/>
          <p:nvPr/>
        </p:nvSpPr>
        <p:spPr>
          <a:xfrm>
            <a:off x="0" y="-18678"/>
            <a:ext cx="9466443" cy="6858000"/>
          </a:xfrm>
          <a:custGeom>
            <a:avLst/>
            <a:gdLst>
              <a:gd name="connsiteX0" fmla="*/ 0 w 9481624"/>
              <a:gd name="connsiteY0" fmla="*/ 0 h 6858000"/>
              <a:gd name="connsiteX1" fmla="*/ 5829299 w 9481624"/>
              <a:gd name="connsiteY1" fmla="*/ 0 h 6858000"/>
              <a:gd name="connsiteX2" fmla="*/ 5930169 w 9481624"/>
              <a:gd name="connsiteY2" fmla="*/ 0 h 6858000"/>
              <a:gd name="connsiteX3" fmla="*/ 8568543 w 9481624"/>
              <a:gd name="connsiteY3" fmla="*/ 0 h 6858000"/>
              <a:gd name="connsiteX4" fmla="*/ 9481624 w 9481624"/>
              <a:gd name="connsiteY4" fmla="*/ 6858000 h 6858000"/>
              <a:gd name="connsiteX5" fmla="*/ 7075357 w 9481624"/>
              <a:gd name="connsiteY5" fmla="*/ 6858000 h 6858000"/>
              <a:gd name="connsiteX6" fmla="*/ 6742380 w 9481624"/>
              <a:gd name="connsiteY6" fmla="*/ 6858000 h 6858000"/>
              <a:gd name="connsiteX7" fmla="*/ 0 w 948162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81624" h="6858000">
                <a:moveTo>
                  <a:pt x="0" y="0"/>
                </a:moveTo>
                <a:lnTo>
                  <a:pt x="5829299" y="0"/>
                </a:lnTo>
                <a:lnTo>
                  <a:pt x="5930169" y="0"/>
                </a:lnTo>
                <a:lnTo>
                  <a:pt x="8568543" y="0"/>
                </a:lnTo>
                <a:lnTo>
                  <a:pt x="9481624" y="6858000"/>
                </a:lnTo>
                <a:lnTo>
                  <a:pt x="7075357" y="6858000"/>
                </a:lnTo>
                <a:lnTo>
                  <a:pt x="674238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4057">
              <a:alpha val="7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191DA8-0D91-5445-BB75-056D10F93053}"/>
              </a:ext>
            </a:extLst>
          </p:cNvPr>
          <p:cNvSpPr txBox="1"/>
          <p:nvPr/>
        </p:nvSpPr>
        <p:spPr>
          <a:xfrm>
            <a:off x="0" y="2984464"/>
            <a:ext cx="946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5400" dirty="0">
                <a:solidFill>
                  <a:schemeClr val="bg1"/>
                </a:solidFill>
              </a:rPr>
              <a:t>Proximal Policy Optimization</a:t>
            </a:r>
            <a:endParaRPr kumimoji="1" lang="zh-CN" altLang="en-US" sz="5400" dirty="0">
              <a:solidFill>
                <a:schemeClr val="bg1"/>
              </a:solidFill>
            </a:endParaRPr>
          </a:p>
        </p:txBody>
      </p:sp>
      <p:pic>
        <p:nvPicPr>
          <p:cNvPr id="20" name="图形 19" descr="讲故事 轮廓">
            <a:extLst>
              <a:ext uri="{FF2B5EF4-FFF2-40B4-BE49-F238E27FC236}">
                <a16:creationId xmlns:a16="http://schemas.microsoft.com/office/drawing/2014/main" id="{7D2DF1A2-AE78-7547-9ACD-9C8CC82AE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47549">
            <a:off x="483819" y="224685"/>
            <a:ext cx="1281969" cy="12819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B68CBD7-3DB8-7F47-9DF9-B7AFD67B0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225" y="5864440"/>
            <a:ext cx="2941548" cy="84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0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D5DD317A-31B3-D4F6-A338-8EE48A9E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4" y="4848705"/>
            <a:ext cx="3174941" cy="1440000"/>
          </a:xfrm>
          <a:prstGeom prst="rect">
            <a:avLst/>
          </a:prstGeom>
        </p:spPr>
      </p:pic>
      <p:sp>
        <p:nvSpPr>
          <p:cNvPr id="175" name="矩形 174">
            <a:extLst>
              <a:ext uri="{FF2B5EF4-FFF2-40B4-BE49-F238E27FC236}">
                <a16:creationId xmlns:a16="http://schemas.microsoft.com/office/drawing/2014/main" id="{A48AC551-65EC-63F4-FAA8-3D2B97CD09A6}"/>
              </a:ext>
            </a:extLst>
          </p:cNvPr>
          <p:cNvSpPr/>
          <p:nvPr/>
        </p:nvSpPr>
        <p:spPr>
          <a:xfrm>
            <a:off x="317357" y="1186934"/>
            <a:ext cx="8599579" cy="3648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26EEE49-FE14-3787-E66E-2EA9C7EE676E}"/>
                  </a:ext>
                </a:extLst>
              </p:cNvPr>
              <p:cNvSpPr/>
              <p:nvPr/>
            </p:nvSpPr>
            <p:spPr>
              <a:xfrm>
                <a:off x="2298926" y="2337355"/>
                <a:ext cx="1559651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critic</a:t>
                </a:r>
                <a:r>
                  <a:rPr lang="zh-CN" altLang="en-US" sz="1200" dirty="0"/>
                  <a:t>网络输出状态价值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26EEE49-FE14-3787-E66E-2EA9C7EE6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926" y="2337355"/>
                <a:ext cx="1559651" cy="5878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18AFB77-52BC-8A0A-DB63-37387A2A7E5D}"/>
                  </a:ext>
                </a:extLst>
              </p:cNvPr>
              <p:cNvSpPr/>
              <p:nvPr/>
            </p:nvSpPr>
            <p:spPr>
              <a:xfrm>
                <a:off x="2665679" y="3511812"/>
                <a:ext cx="1461794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获取即时</a:t>
                </a:r>
                <a14:m>
                  <m:oMath xmlns:m="http://schemas.openxmlformats.org/officeDocument/2006/math">
                    <m:r>
                      <a:rPr lang="zh-CN" altLang="en-US" sz="1200" i="1" dirty="0">
                        <a:latin typeface="Cambria Math" panose="02040503050406030204" pitchFamily="18" charset="0"/>
                      </a:rPr>
                      <m:t>奖励</m:t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1200" dirty="0"/>
              </a:p>
              <a:p>
                <a:pPr algn="ctr"/>
                <a:r>
                  <a:rPr lang="zh-CN" altLang="en-US" sz="1200" dirty="0"/>
                  <a:t>和下一个状态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18AFB77-52BC-8A0A-DB63-37387A2A7E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79" y="3511812"/>
                <a:ext cx="1461794" cy="5878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7BF1483-0917-2D4F-D3EB-B74F64AE3D22}"/>
                  </a:ext>
                </a:extLst>
              </p:cNvPr>
              <p:cNvSpPr/>
              <p:nvPr/>
            </p:nvSpPr>
            <p:spPr>
              <a:xfrm>
                <a:off x="4827224" y="2318774"/>
                <a:ext cx="2219191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计算优势函数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7BF1483-0917-2D4F-D3EB-B74F64AE3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224" y="2318774"/>
                <a:ext cx="2219191" cy="587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5B9AB8B-76F7-27F8-716B-F9261CCDCA01}"/>
                  </a:ext>
                </a:extLst>
              </p:cNvPr>
              <p:cNvSpPr/>
              <p:nvPr/>
            </p:nvSpPr>
            <p:spPr>
              <a:xfrm>
                <a:off x="3995787" y="81089"/>
                <a:ext cx="1324944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初始化策略网络</a:t>
                </a:r>
                <a:r>
                  <a:rPr lang="en-US" altLang="zh-CN" sz="1200" dirty="0"/>
                  <a:t>actor</a:t>
                </a:r>
                <a:r>
                  <a:rPr lang="zh-CN" altLang="en-US" sz="1200" dirty="0"/>
                  <a:t>参数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5B9AB8B-76F7-27F8-716B-F9261CCDC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787" y="81089"/>
                <a:ext cx="1324944" cy="5878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C6CEFC0-9A96-D5B5-BEBF-862CE5FC3153}"/>
                  </a:ext>
                </a:extLst>
              </p:cNvPr>
              <p:cNvSpPr/>
              <p:nvPr/>
            </p:nvSpPr>
            <p:spPr>
              <a:xfrm>
                <a:off x="317357" y="88410"/>
                <a:ext cx="1324944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初始化价值网络</a:t>
                </a:r>
                <a:r>
                  <a:rPr lang="en-US" altLang="zh-CN" sz="1200" dirty="0"/>
                  <a:t>critic</a:t>
                </a:r>
                <a:r>
                  <a:rPr lang="zh-CN" altLang="en-US" sz="1200" dirty="0"/>
                  <a:t>参数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C6CEFC0-9A96-D5B5-BEBF-862CE5FC3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57" y="88410"/>
                <a:ext cx="1324944" cy="5878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73002BD-14BB-4BD7-2D41-94B06098505A}"/>
                  </a:ext>
                </a:extLst>
              </p:cNvPr>
              <p:cNvSpPr/>
              <p:nvPr/>
            </p:nvSpPr>
            <p:spPr>
              <a:xfrm>
                <a:off x="7193618" y="1414226"/>
                <a:ext cx="1324945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更新策略参数</a:t>
                </a:r>
                <a:endParaRPr lang="en-US" altLang="zh-CN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</a:rPr>
                            <m:t>old</m:t>
                          </m:r>
                        </m:sub>
                      </m:sSub>
                      <m:r>
                        <a:rPr lang="en-US" altLang="zh-CN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973002BD-14BB-4BD7-2D41-94B060985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618" y="1414226"/>
                <a:ext cx="1324945" cy="5878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>
            <a:extLst>
              <a:ext uri="{FF2B5EF4-FFF2-40B4-BE49-F238E27FC236}">
                <a16:creationId xmlns:a16="http://schemas.microsoft.com/office/drawing/2014/main" id="{78C007F1-0A6A-A3A2-3919-88A42C04FE14}"/>
              </a:ext>
            </a:extLst>
          </p:cNvPr>
          <p:cNvSpPr/>
          <p:nvPr/>
        </p:nvSpPr>
        <p:spPr>
          <a:xfrm>
            <a:off x="2252276" y="1412036"/>
            <a:ext cx="1324945" cy="587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进入迭代直至收敛或者达到最大迭代次数</a:t>
            </a:r>
            <a:r>
              <a:rPr lang="en-US" altLang="zh-CN" sz="1200" dirty="0"/>
              <a:t> </a:t>
            </a:r>
            <a:endParaRPr lang="zh-CN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BCC795A-3266-3A74-B4FF-0375A344B416}"/>
                  </a:ext>
                </a:extLst>
              </p:cNvPr>
              <p:cNvSpPr/>
              <p:nvPr/>
            </p:nvSpPr>
            <p:spPr>
              <a:xfrm>
                <a:off x="480314" y="2318774"/>
                <a:ext cx="1606633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actor</a:t>
                </a:r>
                <a:r>
                  <a:rPr lang="zh-CN" altLang="en-US" sz="1200" dirty="0"/>
                  <a:t>网络与环境交互生成动作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BCC795A-3266-3A74-B4FF-0375A344B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14" y="2318774"/>
                <a:ext cx="1606633" cy="5878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C5A34E6-2DCB-3B8F-334C-8BFCB408BC11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>
            <a:off x="979829" y="676240"/>
            <a:ext cx="1934920" cy="735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29EBC69-3E5E-090E-83C4-1895CAD7B316}"/>
              </a:ext>
            </a:extLst>
          </p:cNvPr>
          <p:cNvCxnSpPr>
            <a:cxnSpLocks/>
            <a:stCxn id="21" idx="2"/>
            <a:endCxn id="28" idx="0"/>
          </p:cNvCxnSpPr>
          <p:nvPr/>
        </p:nvCxnSpPr>
        <p:spPr>
          <a:xfrm flipH="1">
            <a:off x="2914749" y="668919"/>
            <a:ext cx="1743510" cy="74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59E27B2-3292-1296-A604-BFC02847E98E}"/>
                  </a:ext>
                </a:extLst>
              </p:cNvPr>
              <p:cNvSpPr/>
              <p:nvPr/>
            </p:nvSpPr>
            <p:spPr>
              <a:xfrm>
                <a:off x="642249" y="3519427"/>
                <a:ext cx="1324945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dirty="0"/>
              </a:p>
              <a:p>
                <a:pPr algn="ctr"/>
                <a:r>
                  <a:rPr lang="zh-CN" altLang="en-US" sz="1200" dirty="0"/>
                  <a:t>基于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200" i="1">
                        <a:latin typeface="Cambria Math" panose="02040503050406030204" pitchFamily="18" charset="0"/>
                      </a:rPr>
                      <m:t>来</m:t>
                    </m:r>
                  </m:oMath>
                </a14:m>
                <a:r>
                  <a:rPr lang="zh-CN" altLang="en-US" sz="1200" dirty="0"/>
                  <a:t>执行动作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1200" dirty="0"/>
              </a:p>
              <a:p>
                <a:pPr algn="ctr"/>
                <a:endParaRPr lang="zh-CN" altLang="en-US" sz="12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59E27B2-3292-1296-A604-BFC02847E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249" y="3519427"/>
                <a:ext cx="1324945" cy="5878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412B45D1-6B8C-8691-A6FC-9A058CFA78ED}"/>
              </a:ext>
            </a:extLst>
          </p:cNvPr>
          <p:cNvCxnSpPr>
            <a:cxnSpLocks/>
            <a:stCxn id="28" idx="1"/>
            <a:endCxn id="29" idx="0"/>
          </p:cNvCxnSpPr>
          <p:nvPr/>
        </p:nvCxnSpPr>
        <p:spPr>
          <a:xfrm flipH="1">
            <a:off x="1283631" y="1705951"/>
            <a:ext cx="968645" cy="61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A9CE050-90BA-2A6D-1595-73EE3C680694}"/>
              </a:ext>
            </a:extLst>
          </p:cNvPr>
          <p:cNvCxnSpPr>
            <a:cxnSpLocks/>
            <a:stCxn id="28" idx="2"/>
            <a:endCxn id="10" idx="0"/>
          </p:cNvCxnSpPr>
          <p:nvPr/>
        </p:nvCxnSpPr>
        <p:spPr>
          <a:xfrm>
            <a:off x="2914749" y="1999866"/>
            <a:ext cx="164003" cy="337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7069E05-5BCA-55D1-683E-49E9055EFC83}"/>
              </a:ext>
            </a:extLst>
          </p:cNvPr>
          <p:cNvCxnSpPr>
            <a:cxnSpLocks/>
            <a:stCxn id="29" idx="2"/>
            <a:endCxn id="38" idx="0"/>
          </p:cNvCxnSpPr>
          <p:nvPr/>
        </p:nvCxnSpPr>
        <p:spPr>
          <a:xfrm>
            <a:off x="1283631" y="2906604"/>
            <a:ext cx="21091" cy="612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BAE9029-BBE2-2768-8019-F85577D8022C}"/>
              </a:ext>
            </a:extLst>
          </p:cNvPr>
          <p:cNvCxnSpPr>
            <a:cxnSpLocks/>
            <a:stCxn id="38" idx="3"/>
            <a:endCxn id="11" idx="1"/>
          </p:cNvCxnSpPr>
          <p:nvPr/>
        </p:nvCxnSpPr>
        <p:spPr>
          <a:xfrm flipV="1">
            <a:off x="1967194" y="3805727"/>
            <a:ext cx="698485" cy="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20477ED-CF91-2D47-A8EF-1EAED2209376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858577" y="2612689"/>
            <a:ext cx="968647" cy="1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矩形 176">
            <a:extLst>
              <a:ext uri="{FF2B5EF4-FFF2-40B4-BE49-F238E27FC236}">
                <a16:creationId xmlns:a16="http://schemas.microsoft.com/office/drawing/2014/main" id="{08D0FF3B-4F80-4455-F0BF-0C77611F163D}"/>
              </a:ext>
            </a:extLst>
          </p:cNvPr>
          <p:cNvSpPr/>
          <p:nvPr/>
        </p:nvSpPr>
        <p:spPr>
          <a:xfrm>
            <a:off x="4610533" y="3311821"/>
            <a:ext cx="4182577" cy="129521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2D0AEAF-A0F7-8861-3E42-98664DBC445F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4127473" y="2612689"/>
            <a:ext cx="699751" cy="1193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5699BC5-D416-F563-1A4C-3D84C7A3F188}"/>
              </a:ext>
            </a:extLst>
          </p:cNvPr>
          <p:cNvCxnSpPr>
            <a:cxnSpLocks/>
            <a:stCxn id="128" idx="0"/>
            <a:endCxn id="23" idx="2"/>
          </p:cNvCxnSpPr>
          <p:nvPr/>
        </p:nvCxnSpPr>
        <p:spPr>
          <a:xfrm flipV="1">
            <a:off x="7856091" y="2002056"/>
            <a:ext cx="0" cy="1664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9BDE4AF-F382-AFD5-112E-A785F890960B}"/>
              </a:ext>
            </a:extLst>
          </p:cNvPr>
          <p:cNvCxnSpPr>
            <a:cxnSpLocks/>
            <a:stCxn id="23" idx="1"/>
            <a:endCxn id="28" idx="3"/>
          </p:cNvCxnSpPr>
          <p:nvPr/>
        </p:nvCxnSpPr>
        <p:spPr>
          <a:xfrm flipH="1" flipV="1">
            <a:off x="3577221" y="1705951"/>
            <a:ext cx="3616397" cy="2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040F3BD-9E77-67ED-AC2C-252EE34444AA}"/>
                  </a:ext>
                </a:extLst>
              </p:cNvPr>
              <p:cNvSpPr/>
              <p:nvPr/>
            </p:nvSpPr>
            <p:spPr>
              <a:xfrm>
                <a:off x="2240967" y="76259"/>
                <a:ext cx="1324945" cy="58783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Environment</a:t>
                </a:r>
              </a:p>
              <a:p>
                <a:pPr algn="ctr"/>
                <a:r>
                  <a:rPr lang="zh-CN" altLang="en-US" sz="1200" dirty="0"/>
                  <a:t>获取初始状态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zh-CN" altLang="en-US" sz="1200" dirty="0"/>
              </a:p>
              <a:p>
                <a:pPr algn="ctr"/>
                <a:r>
                  <a:rPr lang="en-US" altLang="zh-CN" sz="1200" dirty="0"/>
                  <a:t> 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040F3BD-9E77-67ED-AC2C-252EE3444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967" y="76259"/>
                <a:ext cx="1324945" cy="5878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00404A1-26B9-A29F-9F27-DF64FB30EF3A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5936820" y="2906604"/>
            <a:ext cx="0" cy="75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5BB21998-2DEB-4F73-C182-6D1ED9BA31A8}"/>
              </a:ext>
            </a:extLst>
          </p:cNvPr>
          <p:cNvCxnSpPr>
            <a:stCxn id="90" idx="2"/>
            <a:endCxn id="28" idx="0"/>
          </p:cNvCxnSpPr>
          <p:nvPr/>
        </p:nvCxnSpPr>
        <p:spPr>
          <a:xfrm>
            <a:off x="2903440" y="664089"/>
            <a:ext cx="11309" cy="747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>
            <a:extLst>
              <a:ext uri="{FF2B5EF4-FFF2-40B4-BE49-F238E27FC236}">
                <a16:creationId xmlns:a16="http://schemas.microsoft.com/office/drawing/2014/main" id="{EE974C98-3E49-33AB-06BF-D348911FA1A5}"/>
              </a:ext>
            </a:extLst>
          </p:cNvPr>
          <p:cNvSpPr/>
          <p:nvPr/>
        </p:nvSpPr>
        <p:spPr>
          <a:xfrm>
            <a:off x="5274347" y="3657312"/>
            <a:ext cx="1324945" cy="587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minibatch </a:t>
            </a:r>
            <a:r>
              <a:rPr lang="zh-CN" altLang="en-US" sz="1200" dirty="0"/>
              <a:t>采样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706A77E-422F-763D-1DD5-5DDA4538CF4F}"/>
              </a:ext>
            </a:extLst>
          </p:cNvPr>
          <p:cNvSpPr/>
          <p:nvPr/>
        </p:nvSpPr>
        <p:spPr>
          <a:xfrm>
            <a:off x="7125194" y="3667001"/>
            <a:ext cx="1461794" cy="5878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使用</a:t>
            </a:r>
            <a:r>
              <a:rPr lang="en-US" altLang="zh-CN" sz="1200" dirty="0"/>
              <a:t>clip</a:t>
            </a:r>
            <a:r>
              <a:rPr lang="zh-CN" altLang="en-US" sz="1200" dirty="0"/>
              <a:t>更新</a:t>
            </a:r>
            <a:r>
              <a:rPr lang="en-US" altLang="zh-CN" sz="1200" dirty="0"/>
              <a:t>actor</a:t>
            </a:r>
          </a:p>
          <a:p>
            <a:pPr algn="ctr"/>
            <a:r>
              <a:rPr lang="zh-CN" altLang="en-US" sz="1200" dirty="0"/>
              <a:t>使用</a:t>
            </a:r>
            <a:r>
              <a:rPr lang="en-US" altLang="zh-CN" sz="1200" dirty="0"/>
              <a:t>MSE</a:t>
            </a:r>
            <a:r>
              <a:rPr lang="zh-CN" altLang="en-US" sz="1200" dirty="0"/>
              <a:t>更新</a:t>
            </a:r>
            <a:r>
              <a:rPr lang="en-US" altLang="zh-CN" sz="1200" dirty="0"/>
              <a:t>critic</a:t>
            </a:r>
            <a:endParaRPr lang="zh-CN" altLang="en-US" sz="1200" dirty="0"/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4BDBF24E-889B-8203-B03D-D72AD41D3A8A}"/>
              </a:ext>
            </a:extLst>
          </p:cNvPr>
          <p:cNvCxnSpPr>
            <a:stCxn id="127" idx="3"/>
            <a:endCxn id="128" idx="1"/>
          </p:cNvCxnSpPr>
          <p:nvPr/>
        </p:nvCxnSpPr>
        <p:spPr>
          <a:xfrm>
            <a:off x="6599292" y="3951227"/>
            <a:ext cx="525902" cy="9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FD400110-5843-CC9E-0E04-98DF78C72CDD}"/>
              </a:ext>
            </a:extLst>
          </p:cNvPr>
          <p:cNvSpPr txBox="1"/>
          <p:nvPr/>
        </p:nvSpPr>
        <p:spPr>
          <a:xfrm>
            <a:off x="324440" y="1186933"/>
            <a:ext cx="2296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外层循环，每次整体策略迭代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1A16E656-0D67-AA0C-50AB-F51BBF5B8F85}"/>
              </a:ext>
            </a:extLst>
          </p:cNvPr>
          <p:cNvSpPr txBox="1"/>
          <p:nvPr/>
        </p:nvSpPr>
        <p:spPr>
          <a:xfrm>
            <a:off x="4610534" y="4287590"/>
            <a:ext cx="363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内层循环，对采集的数据进行多次</a:t>
            </a:r>
            <a:r>
              <a:rPr lang="en-US" altLang="zh-CN" sz="1200" dirty="0"/>
              <a:t>minibatch</a:t>
            </a:r>
            <a:r>
              <a:rPr lang="zh-CN" altLang="en-US" sz="1200" dirty="0"/>
              <a:t>更新</a:t>
            </a:r>
          </a:p>
        </p:txBody>
      </p:sp>
      <p:pic>
        <p:nvPicPr>
          <p:cNvPr id="198" name="图片 197">
            <a:extLst>
              <a:ext uri="{FF2B5EF4-FFF2-40B4-BE49-F238E27FC236}">
                <a16:creationId xmlns:a16="http://schemas.microsoft.com/office/drawing/2014/main" id="{16CBB2FF-2CDF-8445-F4DF-56A6333C73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2010" y="4877652"/>
            <a:ext cx="3421677" cy="396274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CD15D879-1CEE-22B1-B32B-B4CEE4A44A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1069" y="81089"/>
            <a:ext cx="3088472" cy="18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347C2D0-D5A2-B9B8-4B2F-063D686C83A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01130" y="5796770"/>
            <a:ext cx="3665538" cy="96782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9BF2803-3694-E984-C9E2-8F1D047016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6755" y="5567317"/>
            <a:ext cx="1912786" cy="4953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8FFF8D2-5BDE-1928-35A6-80D06E7D056C}"/>
                  </a:ext>
                </a:extLst>
              </p:cNvPr>
              <p:cNvSpPr txBox="1"/>
              <p:nvPr/>
            </p:nvSpPr>
            <p:spPr>
              <a:xfrm>
                <a:off x="9011069" y="2175812"/>
                <a:ext cx="3088472" cy="2598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solidFill>
                      <a:srgbClr val="191B1F"/>
                    </a:solidFill>
                    <a:latin typeface="-apple-system"/>
                  </a:rPr>
                  <a:t>a</a:t>
                </a:r>
                <a:r>
                  <a:rPr lang="en-US" altLang="zh-CN" sz="1600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ctor</a:t>
                </a:r>
                <a:r>
                  <a:rPr lang="zh-CN" altLang="en-US" sz="1600" b="0" i="0" dirty="0">
                    <a:solidFill>
                      <a:srgbClr val="191B1F"/>
                    </a:solidFill>
                    <a:effectLst/>
                    <a:latin typeface="-apple-system"/>
                  </a:rPr>
                  <a:t>网络与环境进行交互，并根据当前状态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solidFill>
                          <a:srgbClr val="191B1F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zh-CN" altLang="en-US" sz="1600" dirty="0"/>
                  <a:t>按照策略函数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选择一个动作并得到即时奖励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/>
                  <a:t>和下一个状态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00" dirty="0"/>
                  <a:t> </a:t>
                </a:r>
                <a:endParaRPr lang="en-US" altLang="zh-CN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1600" dirty="0"/>
                  <a:t>critic</a:t>
                </a:r>
                <a:r>
                  <a:rPr lang="zh-CN" altLang="en-US" sz="1600" dirty="0"/>
                  <a:t>网络计算当前状态的价值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和下一个状态的价值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/>
                  <a:t>并根据即时奖励进一步计算优势函数</a:t>
                </a:r>
                <a:br>
                  <a:rPr lang="zh-CN" altLang="en-US" sz="1600" dirty="0"/>
                </a:br>
                <a:endParaRPr lang="zh-CN" altLang="en-US" sz="1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8FFF8D2-5BDE-1928-35A6-80D06E7D0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069" y="2175812"/>
                <a:ext cx="3088472" cy="2598404"/>
              </a:xfrm>
              <a:prstGeom prst="rect">
                <a:avLst/>
              </a:prstGeom>
              <a:blipFill>
                <a:blip r:embed="rId20"/>
                <a:stretch>
                  <a:fillRect l="-789" t="-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99AF784-4DB0-BFB8-A73D-A93FE3C6FCA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98286" y="5311093"/>
            <a:ext cx="2697714" cy="5029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973AC4-6B66-1E00-CDCC-BA215644DA7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88020" y="6062660"/>
            <a:ext cx="5303980" cy="5182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BCF8E09-BDBD-746D-0FCC-6415693B31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61400" y="4899101"/>
            <a:ext cx="4275190" cy="6629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5FFC73-F662-E011-D9DD-764A580C2D0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61400" y="5586310"/>
            <a:ext cx="2286198" cy="53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3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红色" id="{17892801-86CE-D142-9373-3F5248AB2592}" vid="{02E09CF8-26DC-054E-9D04-543400AA892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869</TotalTime>
  <Words>176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-apple-system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 Danny</dc:creator>
  <cp:lastModifiedBy>伟诺 周</cp:lastModifiedBy>
  <cp:revision>19</cp:revision>
  <dcterms:created xsi:type="dcterms:W3CDTF">2021-06-13T08:32:35Z</dcterms:created>
  <dcterms:modified xsi:type="dcterms:W3CDTF">2025-11-18T08:00:42Z</dcterms:modified>
</cp:coreProperties>
</file>